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4" r:id="rId10"/>
    <p:sldId id="267" r:id="rId11"/>
    <p:sldId id="266" r:id="rId12"/>
    <p:sldId id="273" r:id="rId13"/>
    <p:sldId id="274" r:id="rId14"/>
    <p:sldId id="275" r:id="rId15"/>
    <p:sldId id="276" r:id="rId16"/>
    <p:sldId id="279" r:id="rId17"/>
    <p:sldId id="268" r:id="rId18"/>
    <p:sldId id="269" r:id="rId19"/>
    <p:sldId id="270" r:id="rId20"/>
    <p:sldId id="278" r:id="rId21"/>
    <p:sldId id="272" r:id="rId22"/>
    <p:sldId id="271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5" autoAdjust="0"/>
    <p:restoredTop sz="94660"/>
  </p:normalViewPr>
  <p:slideViewPr>
    <p:cSldViewPr snapToGrid="0">
      <p:cViewPr>
        <p:scale>
          <a:sx n="75" d="100"/>
          <a:sy n="75" d="100"/>
        </p:scale>
        <p:origin x="168" y="4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uciml/default-of-credit-card-clients-dataset/dat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EFE74-E0CB-0514-765C-12F5F4C95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 dirty="0"/>
              <a:t>MODELOS DE MACHINE LEARNING APLICADOS AL RIESGO CREDITICIO</a:t>
            </a:r>
            <a:endParaRPr lang="es-CO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1EDF14-AA16-E075-3274-27EC9EFF7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335321"/>
          </a:xfrm>
        </p:spPr>
        <p:txBody>
          <a:bodyPr>
            <a:normAutofit/>
          </a:bodyPr>
          <a:lstStyle/>
          <a:p>
            <a:r>
              <a:rPr lang="es-ES" dirty="0"/>
              <a:t>Juan Miguel Blanco Medina</a:t>
            </a:r>
          </a:p>
          <a:p>
            <a:r>
              <a:rPr lang="es-ES" sz="1400" dirty="0"/>
              <a:t>Esp. Big Data y Analítica de Datos</a:t>
            </a:r>
          </a:p>
          <a:p>
            <a:r>
              <a:rPr lang="es-ES" sz="1400" dirty="0"/>
              <a:t>Escuela Superior de Empresa, Ingeniería y Tecnología (ESEIT)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349393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7466B-E140-5301-2588-786EE9B4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DEL PROBLEMA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D1915-FB78-02E9-E471-BF0654528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7864"/>
            <a:ext cx="9404723" cy="5198300"/>
          </a:xfrm>
        </p:spPr>
        <p:txBody>
          <a:bodyPr>
            <a:normAutofit fontScale="92500"/>
          </a:bodyPr>
          <a:lstStyle/>
          <a:p>
            <a:r>
              <a:rPr lang="es-ES" dirty="0"/>
              <a:t>Uno de los problemas más recurrentes en las entidades bancarias es predecir el pago de las tarjetas de crédito de los clientes, el poder pronosticar un riesgo para el banco.</a:t>
            </a:r>
          </a:p>
          <a:p>
            <a:r>
              <a:rPr lang="es-ES" dirty="0"/>
              <a:t>Se obtuvo un data set de datos de los clientes con diferentes datos como: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LIMIT_BAL: Cupo total de la tarjeta.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SEX: Sexo del cliente.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EDUCATION: Nivel educativo del cliente.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MARRIAGE: Estado Matrimonial del cliente.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AGE: Edad del cliente.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PAY_X: Retraso mensual de pago.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BILL_AMTX: Monto pagado por el cliente.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PAY_AMTX: Monto pagado en el mes anterior.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/>
              <a:t>DEFAULT.PAYMENT.NEXTH.MONTH: Riesgo de pago para el siguiente mes.</a:t>
            </a:r>
          </a:p>
          <a:p>
            <a:pPr marL="57150" indent="0">
              <a:buNone/>
            </a:pPr>
            <a:r>
              <a:rPr lang="es-CO" sz="1200" dirty="0"/>
              <a:t>Fuente: </a:t>
            </a:r>
            <a:r>
              <a:rPr lang="es-CO" sz="1200" dirty="0">
                <a:hlinkClick r:id="rId2"/>
              </a:rPr>
              <a:t>Créditos Dataset</a:t>
            </a:r>
            <a:r>
              <a:rPr lang="es-CO" sz="1200" dirty="0"/>
              <a:t> </a:t>
            </a:r>
          </a:p>
          <a:p>
            <a:endParaRPr lang="es-CO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109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METODOLOGÍA DE TRABAJO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508638"/>
          </a:xfrm>
        </p:spPr>
        <p:txBody>
          <a:bodyPr>
            <a:normAutofit/>
          </a:bodyPr>
          <a:lstStyle/>
          <a:p>
            <a:r>
              <a:rPr lang="es-ES" sz="2800" dirty="0"/>
              <a:t>Análisis de datos.</a:t>
            </a:r>
          </a:p>
          <a:p>
            <a:r>
              <a:rPr lang="es-ES" sz="2800" dirty="0"/>
              <a:t>Implementación de Métodos de aprendizaje.</a:t>
            </a:r>
          </a:p>
          <a:p>
            <a:r>
              <a:rPr lang="es-ES" sz="2800" dirty="0"/>
              <a:t>Validación de resultados.</a:t>
            </a:r>
          </a:p>
          <a:p>
            <a:r>
              <a:rPr lang="es-ES" sz="2800" dirty="0"/>
              <a:t>Conclusión final.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6315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9E69A-1133-5863-1BFB-80D60C4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AA4F7-EAFD-DBE1-8F3F-DE72DE921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765438"/>
          </a:xfrm>
        </p:spPr>
        <p:txBody>
          <a:bodyPr/>
          <a:lstStyle/>
          <a:p>
            <a:r>
              <a:rPr lang="es-ES" dirty="0"/>
              <a:t>Se realiza una revisión inicial de los datos en busca de datos nulos, tipos de datos y valores outliers.</a:t>
            </a:r>
            <a:endParaRPr lang="es-CO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7EC17CE-ED84-236D-D23D-11F94CE71A01}"/>
              </a:ext>
            </a:extLst>
          </p:cNvPr>
          <p:cNvGrpSpPr/>
          <p:nvPr/>
        </p:nvGrpSpPr>
        <p:grpSpPr>
          <a:xfrm>
            <a:off x="1328781" y="2873622"/>
            <a:ext cx="9103640" cy="3600552"/>
            <a:chOff x="1328781" y="2873622"/>
            <a:chExt cx="9103640" cy="360055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1D43865E-4E32-2858-A032-ECF1AD30B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8781" y="2873622"/>
              <a:ext cx="3381006" cy="3600552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997C7F7-6F09-833F-23A1-1CA8E46DCB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2947" y="3548588"/>
              <a:ext cx="5449474" cy="2250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24734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9E69A-1133-5863-1BFB-80D60C4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br>
              <a:rPr lang="es-ES" dirty="0"/>
            </a:br>
            <a:endParaRPr lang="es-CO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532B38-9051-5222-67D3-F7C4CD5AE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90" y="1484397"/>
            <a:ext cx="8271163" cy="461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300FDABF-F414-C9F4-7F22-0D2E628D0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284" y="6160349"/>
            <a:ext cx="3972373" cy="353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200" dirty="0"/>
              <a:t>Calificación de pagos de los 6 meses anteriores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76659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9E69A-1133-5863-1BFB-80D60C4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br>
              <a:rPr lang="es-ES" dirty="0"/>
            </a:br>
            <a:endParaRPr lang="es-CO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9342CFF-7D2F-5F43-8875-EE42FDA1AA8D}"/>
              </a:ext>
            </a:extLst>
          </p:cNvPr>
          <p:cNvGrpSpPr/>
          <p:nvPr/>
        </p:nvGrpSpPr>
        <p:grpSpPr>
          <a:xfrm>
            <a:off x="763805" y="1853248"/>
            <a:ext cx="9287029" cy="3690302"/>
            <a:chOff x="646111" y="1314450"/>
            <a:chExt cx="11026450" cy="4229100"/>
          </a:xfrm>
        </p:grpSpPr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207F2D29-5EBD-9933-0061-95C37D8AA2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111" y="1314450"/>
              <a:ext cx="5476875" cy="4229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1F173CF7-E348-E649-ECA4-9EAA4538D3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1411" y="1314450"/>
              <a:ext cx="5391150" cy="4229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94D24C3-B7EF-D082-2D06-3D290E0D2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859" y="5646781"/>
            <a:ext cx="3972373" cy="353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200" dirty="0"/>
              <a:t>Montos pagado en el mes.</a:t>
            </a:r>
            <a:endParaRPr lang="es-CO" sz="1200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76B0B55-2900-C9D4-74CE-4FA96AD3F048}"/>
              </a:ext>
            </a:extLst>
          </p:cNvPr>
          <p:cNvSpPr txBox="1">
            <a:spLocks/>
          </p:cNvSpPr>
          <p:nvPr/>
        </p:nvSpPr>
        <p:spPr>
          <a:xfrm>
            <a:off x="5794298" y="5645551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Montos pagado en el mes anterior.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03404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9E69A-1133-5863-1BFB-80D60C4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br>
              <a:rPr lang="es-ES" dirty="0"/>
            </a:br>
            <a:endParaRPr lang="es-CO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49CF09C-1DB8-0E82-8CB2-CA40A8EA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166" y="1557337"/>
            <a:ext cx="761047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C6F130-91B1-18CF-FCAF-E702D44D4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813" y="5508995"/>
            <a:ext cx="3972373" cy="353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200" dirty="0"/>
              <a:t>Diagrama de edades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66275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9E69A-1133-5863-1BFB-80D60C4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04E759-BB6E-67D0-D783-B71B91D44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813" y="6405282"/>
            <a:ext cx="3972373" cy="353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200" dirty="0"/>
              <a:t>Correlación de las variables del dataset</a:t>
            </a:r>
            <a:endParaRPr lang="es-CO" sz="1200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3EC56A2-00C2-B4F0-D071-9EE53742A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909" y="1436160"/>
            <a:ext cx="5548182" cy="469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33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9E69A-1133-5863-1BFB-80D60C4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AA4F7-EAFD-DBE1-8F3F-DE72DE921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59991"/>
          </a:xfrm>
        </p:spPr>
        <p:txBody>
          <a:bodyPr/>
          <a:lstStyle/>
          <a:p>
            <a:r>
              <a:rPr lang="es-ES" dirty="0"/>
              <a:t>El dataset contiene 30,000 observaciones sin valores faltantes.</a:t>
            </a:r>
          </a:p>
          <a:p>
            <a:r>
              <a:rPr lang="es-ES" dirty="0"/>
              <a:t>La variable objetivo presenta un desbalance moderado (22% de incumplimiento).</a:t>
            </a:r>
          </a:p>
          <a:p>
            <a:r>
              <a:rPr lang="es-ES" dirty="0"/>
              <a:t>Las variables financieras muestran grandes diferencias de escala, justificando el uso de normalización.</a:t>
            </a:r>
          </a:p>
          <a:p>
            <a:r>
              <a:rPr lang="es-ES" dirty="0"/>
              <a:t>Se identifican variables categóricas codificadas numéricamente y variables altamente correlacionadas.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0059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IMPLEMENTACIÓN DE MÉTODOS DE APRENDIZAJE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053537"/>
          </a:xfrm>
        </p:spPr>
        <p:txBody>
          <a:bodyPr/>
          <a:lstStyle/>
          <a:p>
            <a:pPr algn="just"/>
            <a:r>
              <a:rPr lang="es-ES" dirty="0"/>
              <a:t>Se realizó una transformación y escalado de los datos para alimentar los algoritmos, ya que se presentan demasiados valores outliers debido a la naturaleza de los datos.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775011-E31E-13E1-9B30-276CF920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96" y="3306125"/>
            <a:ext cx="10746008" cy="140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IMPLEMENTACIÓN DE MÉTODOS DE APRENDIZAJE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Se realizó el análisis de diferentes tipos de algoritmos de aprendizaje con el fin de evaluar cual de estos es más eficiente a la hora de predecir la variable objetivo.</a:t>
            </a:r>
          </a:p>
          <a:p>
            <a:pPr algn="just"/>
            <a:endParaRPr lang="es-E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Regresión PCR - Lasso – Ridge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K-MEANS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K-Nearest Neighbors (KNN)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dirty="0"/>
              <a:t>Árbol de Decisión</a:t>
            </a:r>
          </a:p>
        </p:txBody>
      </p:sp>
    </p:spTree>
    <p:extLst>
      <p:ext uri="{BB962C8B-B14F-4D97-AF65-F5344CB8AC3E}">
        <p14:creationId xmlns:p14="http://schemas.microsoft.com/office/powerpoint/2010/main" val="225281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REGRESION PCR – LASSO – RIDGE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1567"/>
            <a:ext cx="8946541" cy="87817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dirty="0"/>
              <a:t>Para estos modelos inicialmente se realizó una descomposición de componentes principales teniendo en cuenta un casi un 95% de variabilidad en el dataset.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1116093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los Componentes principales, se seleccionó el PCA 14</a:t>
            </a:r>
            <a:endParaRPr lang="es-CO" sz="12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92745AD-4891-F470-7D60-51BA2F9F5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05" y="2400718"/>
            <a:ext cx="3860561" cy="323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0D61BAF6-4BD5-0FDE-6191-A9754CF80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582" y="2400718"/>
            <a:ext cx="3860561" cy="323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A8DA86-AEF7-0931-422E-983FD79308B2}"/>
              </a:ext>
            </a:extLst>
          </p:cNvPr>
          <p:cNvSpPr txBox="1">
            <a:spLocks/>
          </p:cNvSpPr>
          <p:nvPr/>
        </p:nvSpPr>
        <p:spPr>
          <a:xfrm>
            <a:off x="5520675" y="575943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los Componentes principales utilizando los 14 PCA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2684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REGRESION PCR – LASSO – RIDGE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1116093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importancia para la componente PCA 1</a:t>
            </a:r>
            <a:endParaRPr lang="es-CO" sz="12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A8DA86-AEF7-0931-422E-983FD79308B2}"/>
              </a:ext>
            </a:extLst>
          </p:cNvPr>
          <p:cNvSpPr txBox="1">
            <a:spLocks/>
          </p:cNvSpPr>
          <p:nvPr/>
        </p:nvSpPr>
        <p:spPr>
          <a:xfrm>
            <a:off x="5520675" y="575943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los coeficientes de Ridge calculados para el modelo</a:t>
            </a:r>
            <a:endParaRPr lang="es-CO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317688-32BD-9D50-9071-71AE335A7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90" y="2327020"/>
            <a:ext cx="3640778" cy="3386400"/>
          </a:xfrm>
          <a:prstGeom prst="rect">
            <a:avLst/>
          </a:prstGeom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013EB4CC-7148-58A3-A014-4B5A6826F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182" y="2239715"/>
            <a:ext cx="4010804" cy="347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48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REGRESION PCR – LASSO – RIDGE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A8DA86-AEF7-0931-422E-983FD79308B2}"/>
              </a:ext>
            </a:extLst>
          </p:cNvPr>
          <p:cNvSpPr txBox="1">
            <a:spLocks/>
          </p:cNvSpPr>
          <p:nvPr/>
        </p:nvSpPr>
        <p:spPr>
          <a:xfrm>
            <a:off x="3196285" y="5314842"/>
            <a:ext cx="4645008" cy="35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los coeficientes de Ridge calculados para el modelo</a:t>
            </a:r>
            <a:endParaRPr lang="es-CO" sz="12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E0B0925-CEF7-EC7A-9D78-63B936EA8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777" y="1669141"/>
            <a:ext cx="4049796" cy="351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072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REGRESION PCR – LASSO – RIDGE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2551559" y="4839837"/>
            <a:ext cx="5593825" cy="370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Tabla con las métricas para cada regresión realizada.</a:t>
            </a:r>
            <a:endParaRPr lang="es-CO" sz="12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516ADBB-C463-0BFB-F357-4C1BF53CF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714174"/>
              </p:ext>
            </p:extLst>
          </p:nvPr>
        </p:nvGraphicFramePr>
        <p:xfrm>
          <a:off x="813087" y="1895939"/>
          <a:ext cx="9070770" cy="2805829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814154">
                  <a:extLst>
                    <a:ext uri="{9D8B030D-6E8A-4147-A177-3AD203B41FA5}">
                      <a16:colId xmlns:a16="http://schemas.microsoft.com/office/drawing/2014/main" val="3895730683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93551280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22455715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1162507456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3502315635"/>
                    </a:ext>
                  </a:extLst>
                </a:gridCol>
              </a:tblGrid>
              <a:tr h="448933">
                <a:tc>
                  <a:txBody>
                    <a:bodyPr/>
                    <a:lstStyle/>
                    <a:p>
                      <a:r>
                        <a:rPr lang="es-CO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38368"/>
                  </a:ext>
                </a:extLst>
              </a:tr>
              <a:tr h="785632">
                <a:tc>
                  <a:txBody>
                    <a:bodyPr/>
                    <a:lstStyle/>
                    <a:p>
                      <a:r>
                        <a:rPr lang="es-CO" dirty="0"/>
                        <a:t>Regresión 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0.1548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0.3934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0.3106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0.1014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845510"/>
                  </a:ext>
                </a:extLst>
              </a:tr>
              <a:tr h="785632">
                <a:tc>
                  <a:txBody>
                    <a:bodyPr/>
                    <a:lstStyle/>
                    <a:p>
                      <a:r>
                        <a:rPr lang="es-CO" dirty="0"/>
                        <a:t>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0.1548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0.3934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0.3106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0.1014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023171"/>
                  </a:ext>
                </a:extLst>
              </a:tr>
              <a:tr h="785632">
                <a:tc>
                  <a:txBody>
                    <a:bodyPr/>
                    <a:lstStyle/>
                    <a:p>
                      <a:r>
                        <a:rPr lang="es-CO" dirty="0"/>
                        <a:t>Lasso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0.1601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0.4002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0.3257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0.0703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67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12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9E69A-1133-5863-1BFB-80D60C4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REGRESION PCR – LASSO – RIDGE</a:t>
            </a:r>
            <a:br>
              <a:rPr lang="es-ES" dirty="0"/>
            </a:br>
            <a:endParaRPr lang="es-C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8AA4F7-EAFD-DBE1-8F3F-DE72DE921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2052919"/>
                <a:ext cx="8946541" cy="407230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dirty="0"/>
                  <a:t>Los valores de un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dirty="0"/>
                  <a:t>tan bajo indican que no se logra obtener adecuadamente la variabilidad del comportamiento de pago para el cliente.</a:t>
                </a:r>
              </a:p>
              <a:p>
                <a:r>
                  <a:rPr lang="es-ES" dirty="0"/>
                  <a:t>Se presentan tasas altas de error para los modelos de regresión utilizados.</a:t>
                </a:r>
              </a:p>
              <a:p>
                <a:r>
                  <a:rPr lang="es-ES" dirty="0"/>
                  <a:t>La regresión lineal comparada con Ridge da los mismos MSE, RMSE, MAE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dirty="0"/>
                  <a:t>.</a:t>
                </a:r>
              </a:p>
              <a:p>
                <a:r>
                  <a:rPr lang="es-CO" dirty="0"/>
                  <a:t>Al utilizar LASSO se observa perdida de información al solo tener dos coeficientes resultantes en su modelo.</a:t>
                </a:r>
              </a:p>
              <a:p>
                <a:r>
                  <a:rPr lang="es-CO" dirty="0"/>
                  <a:t>Por tratarse de un problema de clasificación binaria y data desbalanceada los métodos de regresión no son concluyentes para predecir el valor esperado.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8AA4F7-EAFD-DBE1-8F3F-DE72DE921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2052919"/>
                <a:ext cx="8946541" cy="4072308"/>
              </a:xfrm>
              <a:blipFill>
                <a:blip r:embed="rId2"/>
                <a:stretch>
                  <a:fillRect l="-341" t="-1647" r="-109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720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K-MEANS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1567"/>
            <a:ext cx="8946541" cy="539970"/>
          </a:xfrm>
        </p:spPr>
        <p:txBody>
          <a:bodyPr/>
          <a:lstStyle/>
          <a:p>
            <a:pPr algn="just"/>
            <a:r>
              <a:rPr lang="es-ES" dirty="0"/>
              <a:t>Se seleccionó la cantidad de clusters en 6 con el método de codo.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BF74D990-063D-9E33-4848-8950D5143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1" y="2124905"/>
            <a:ext cx="4666858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C9435114-2F33-DCF8-DED4-DFF2BD268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80" y="2124904"/>
            <a:ext cx="52578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1116093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la cantidad de clusters para K-MEANS </a:t>
            </a:r>
            <a:endParaRPr lang="es-CO" sz="1200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0507C4-578E-278A-2D67-B84346A68B1C}"/>
              </a:ext>
            </a:extLst>
          </p:cNvPr>
          <p:cNvSpPr txBox="1">
            <a:spLocks/>
          </p:cNvSpPr>
          <p:nvPr/>
        </p:nvSpPr>
        <p:spPr>
          <a:xfrm>
            <a:off x="6096000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los clusters de los datos (se usó PCA)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5230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K-MEANS CONLCUSIONES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37520"/>
            <a:ext cx="8946541" cy="318296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Al ser un algoritmo no supervisado las métricas no miden accuracy, se miden los cómo se formaron los clusters internamente.</a:t>
            </a:r>
          </a:p>
          <a:p>
            <a:pPr marL="400050" lvl="1" indent="0" algn="just">
              <a:buNone/>
            </a:pPr>
            <a:r>
              <a:rPr lang="fr-FR" sz="2000" dirty="0"/>
              <a:t>Silhouette Score:  0.165</a:t>
            </a:r>
          </a:p>
          <a:p>
            <a:pPr marL="400050" lvl="1" indent="0" algn="just">
              <a:buNone/>
            </a:pPr>
            <a:r>
              <a:rPr lang="fr-FR" sz="2000" dirty="0"/>
              <a:t>Davies-Bouldin:  1.880</a:t>
            </a:r>
            <a:endParaRPr lang="es-ES" sz="2000" dirty="0"/>
          </a:p>
          <a:p>
            <a:pPr algn="just"/>
            <a:r>
              <a:rPr lang="es-ES" dirty="0"/>
              <a:t>Silhouette Score es bajo mostrando que los clientes no están separados claramente y muchos están entre los clusters.</a:t>
            </a:r>
          </a:p>
          <a:p>
            <a:pPr algn="just"/>
            <a:r>
              <a:rPr lang="es-ES" dirty="0"/>
              <a:t>Davies-Bouldin es relativamente alto, por lo tanto pueden existir clusters muy parecidos entre sí o hay solapamiento.</a:t>
            </a:r>
          </a:p>
        </p:txBody>
      </p:sp>
    </p:spTree>
    <p:extLst>
      <p:ext uri="{BB962C8B-B14F-4D97-AF65-F5344CB8AC3E}">
        <p14:creationId xmlns:p14="http://schemas.microsoft.com/office/powerpoint/2010/main" val="1673725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K-NEAREST NEIGHBORS (KNN)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1567"/>
            <a:ext cx="8946541" cy="539970"/>
          </a:xfrm>
        </p:spPr>
        <p:txBody>
          <a:bodyPr/>
          <a:lstStyle/>
          <a:p>
            <a:pPr algn="just"/>
            <a:r>
              <a:rPr lang="es-ES" dirty="0"/>
              <a:t>Se seleccionó la cantidad de vecinos en 11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1116093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la cantidad de vecinos en 11 para KNN </a:t>
            </a:r>
            <a:endParaRPr lang="es-CO" sz="1200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0507C4-578E-278A-2D67-B84346A68B1C}"/>
              </a:ext>
            </a:extLst>
          </p:cNvPr>
          <p:cNvSpPr txBox="1">
            <a:spLocks/>
          </p:cNvSpPr>
          <p:nvPr/>
        </p:nvSpPr>
        <p:spPr>
          <a:xfrm>
            <a:off x="6096000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Matriz de Confusión para KNN</a:t>
            </a:r>
            <a:endParaRPr lang="es-CO" sz="12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4626D8C-8825-9BC9-4C1E-224DC9493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11" y="2416013"/>
            <a:ext cx="5038944" cy="33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8430381F-C825-1329-9A28-470A16646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665" y="2416013"/>
            <a:ext cx="4024198" cy="33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711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K-NEAREST NEIGHBORS (KNN)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1567"/>
            <a:ext cx="8946541" cy="539970"/>
          </a:xfrm>
        </p:spPr>
        <p:txBody>
          <a:bodyPr/>
          <a:lstStyle/>
          <a:p>
            <a:pPr algn="just"/>
            <a:r>
              <a:rPr lang="es-ES" dirty="0"/>
              <a:t>Se seleccionó la cantidad de vecinos en 11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1116093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la cantidad de vecinos en 11 para KNN </a:t>
            </a:r>
            <a:endParaRPr lang="es-CO" sz="1200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0507C4-578E-278A-2D67-B84346A68B1C}"/>
              </a:ext>
            </a:extLst>
          </p:cNvPr>
          <p:cNvSpPr txBox="1">
            <a:spLocks/>
          </p:cNvSpPr>
          <p:nvPr/>
        </p:nvSpPr>
        <p:spPr>
          <a:xfrm>
            <a:off x="6096000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Matriz de Confusión para KNN</a:t>
            </a:r>
            <a:endParaRPr lang="es-CO" sz="12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4626D8C-8825-9BC9-4C1E-224DC9493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11" y="2416013"/>
            <a:ext cx="5038944" cy="33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8430381F-C825-1329-9A28-470A16646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665" y="2416013"/>
            <a:ext cx="4024198" cy="33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03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K-NEAREST NEIGHBORS (KNN)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436" y="1941536"/>
            <a:ext cx="4358036" cy="3753297"/>
          </a:xfrm>
        </p:spPr>
        <p:txBody>
          <a:bodyPr>
            <a:normAutofit/>
          </a:bodyPr>
          <a:lstStyle/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r>
              <a:rPr lang="es-ES" dirty="0"/>
              <a:t>Accuracy : 0.8093</a:t>
            </a:r>
          </a:p>
          <a:p>
            <a:pPr algn="just"/>
            <a:r>
              <a:rPr lang="es-ES" dirty="0"/>
              <a:t>Precision: 0.6215</a:t>
            </a:r>
          </a:p>
          <a:p>
            <a:pPr algn="just"/>
            <a:r>
              <a:rPr lang="es-ES" dirty="0"/>
              <a:t>Recall   : 0.3527</a:t>
            </a:r>
          </a:p>
          <a:p>
            <a:pPr algn="just"/>
            <a:r>
              <a:rPr lang="es-ES" dirty="0"/>
              <a:t>F1-score : 0.4500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0507C4-578E-278A-2D67-B84346A68B1C}"/>
              </a:ext>
            </a:extLst>
          </p:cNvPr>
          <p:cNvSpPr txBox="1">
            <a:spLocks/>
          </p:cNvSpPr>
          <p:nvPr/>
        </p:nvSpPr>
        <p:spPr>
          <a:xfrm>
            <a:off x="6096000" y="5760703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Grafica de la ROC para KNN</a:t>
            </a:r>
            <a:endParaRPr lang="es-CO" sz="12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FE55E66-1036-BB56-55C6-7790942B3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329" y="1941537"/>
            <a:ext cx="5031713" cy="375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512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KNN - CONLCUSIONES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37520"/>
            <a:ext cx="8946541" cy="4450546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Aunque el Accuracy es del 0.81 no es muy fiable para predecir la calidad del modelo utilizado ya que se deben tener en cuenta más métricas.</a:t>
            </a:r>
          </a:p>
          <a:p>
            <a:pPr algn="just"/>
            <a:r>
              <a:rPr lang="es-ES" dirty="0"/>
              <a:t>La precisión es del 62% no es un indicador malo, se considera aceptable por el tipo de datos y la naturaleza del problema.</a:t>
            </a:r>
          </a:p>
          <a:p>
            <a:pPr algn="just"/>
            <a:r>
              <a:rPr lang="es-ES" dirty="0"/>
              <a:t>Con el Recall si está demasiado bajo debido a esto puede que un 65% de clientes </a:t>
            </a:r>
            <a:r>
              <a:rPr lang="es-ES" b="1" dirty="0"/>
              <a:t>morosos</a:t>
            </a:r>
            <a:r>
              <a:rPr lang="es-ES" dirty="0"/>
              <a:t> pasarían como que van a pagar el siguiente mes.</a:t>
            </a:r>
          </a:p>
          <a:p>
            <a:pPr algn="just"/>
            <a:r>
              <a:rPr lang="es-ES" dirty="0"/>
              <a:t>El  </a:t>
            </a:r>
            <a:r>
              <a:rPr lang="es-ES" b="1" dirty="0"/>
              <a:t>F1</a:t>
            </a:r>
            <a:r>
              <a:rPr lang="es-ES" dirty="0"/>
              <a:t> reafirma que el modelo entrenado para este caso en específico, deja pasar demasiados falsos positivos, representando un riesgo alto para el negocio.</a:t>
            </a:r>
          </a:p>
        </p:txBody>
      </p:sp>
    </p:spTree>
    <p:extLst>
      <p:ext uri="{BB962C8B-B14F-4D97-AF65-F5344CB8AC3E}">
        <p14:creationId xmlns:p14="http://schemas.microsoft.com/office/powerpoint/2010/main" val="605936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ARBOL DE DESICIÓN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460" y="2712944"/>
            <a:ext cx="4471792" cy="16586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Este modelo realiza una estructura lógica según los datos para la toma de decisiones dependiendo las variables predictoras del dataset.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7440460" y="6258112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Árbol de decisión generado con los datos obtenidos.</a:t>
            </a:r>
            <a:endParaRPr lang="es-CO" sz="120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0A024D6-D11F-9676-A8BC-4FBC9600D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90" y="1284976"/>
            <a:ext cx="6681328" cy="532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327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ARBOL DE DESICIÓN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3040" y="2599680"/>
            <a:ext cx="2610374" cy="1658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Accuracy : 0.7782</a:t>
            </a:r>
          </a:p>
          <a:p>
            <a:pPr marL="0" indent="0">
              <a:buNone/>
            </a:pPr>
            <a:r>
              <a:rPr lang="es-ES" dirty="0"/>
              <a:t>Precision: 0.4985</a:t>
            </a:r>
          </a:p>
          <a:p>
            <a:pPr marL="0" indent="0">
              <a:buNone/>
            </a:pPr>
            <a:r>
              <a:rPr lang="es-ES" dirty="0"/>
              <a:t>Recall   : 0.4974</a:t>
            </a:r>
          </a:p>
          <a:p>
            <a:pPr marL="0" indent="0">
              <a:buNone/>
            </a:pPr>
            <a:r>
              <a:rPr lang="es-ES" dirty="0"/>
              <a:t>F1-score : 0.4979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4B3DE44-697D-6B51-4377-936DFA0B15A0}"/>
              </a:ext>
            </a:extLst>
          </p:cNvPr>
          <p:cNvSpPr txBox="1">
            <a:spLocks/>
          </p:cNvSpPr>
          <p:nvPr/>
        </p:nvSpPr>
        <p:spPr>
          <a:xfrm>
            <a:off x="6941041" y="6268566"/>
            <a:ext cx="3972373" cy="35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ES" sz="1200" dirty="0"/>
              <a:t>Matriz de confusión para el Árbol de decisión</a:t>
            </a:r>
            <a:endParaRPr lang="es-CO" sz="1200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D53EAF04-C8CF-E7C2-FFDE-C51A1E091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97" y="1395412"/>
            <a:ext cx="6156554" cy="522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095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ARBOL DE DESICIÓN - 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458934"/>
            <a:ext cx="10589736" cy="1875071"/>
          </a:xfrm>
        </p:spPr>
        <p:txBody>
          <a:bodyPr>
            <a:normAutofit/>
          </a:bodyPr>
          <a:lstStyle/>
          <a:p>
            <a:r>
              <a:rPr lang="es-ES" dirty="0"/>
              <a:t>Un Accuracy del 78% es un buen valor pero se debe considerar que el dataset está desbalanceado, lo cual puede ser engañoso.</a:t>
            </a:r>
          </a:p>
          <a:p>
            <a:r>
              <a:rPr lang="es-ES" dirty="0"/>
              <a:t>La precisión y el Recall con valores cercanos del 50% indican un equilibrio entre los valores Falsos Positivos (FP) y Falsos Negativos (FN), como se observó en la matriz de confusión.</a:t>
            </a:r>
          </a:p>
        </p:txBody>
      </p:sp>
    </p:spTree>
    <p:extLst>
      <p:ext uri="{BB962C8B-B14F-4D97-AF65-F5344CB8AC3E}">
        <p14:creationId xmlns:p14="http://schemas.microsoft.com/office/powerpoint/2010/main" val="1379101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58EC-9846-891E-0FCC-13671CAC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7255"/>
          </a:xfrm>
        </p:spPr>
        <p:txBody>
          <a:bodyPr/>
          <a:lstStyle/>
          <a:p>
            <a:r>
              <a:rPr lang="es-ES" dirty="0"/>
              <a:t>CONCLUSIÓN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22A3D-4AB7-DDF7-620E-D5F66B8B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3100192"/>
            <a:ext cx="10589736" cy="3526076"/>
          </a:xfrm>
        </p:spPr>
        <p:txBody>
          <a:bodyPr>
            <a:normAutofit/>
          </a:bodyPr>
          <a:lstStyle/>
          <a:p>
            <a:r>
              <a:rPr lang="es-ES" dirty="0"/>
              <a:t>Tras evaluar distintos modelos, </a:t>
            </a:r>
            <a:r>
              <a:rPr lang="es-ES" b="1" dirty="0"/>
              <a:t>KNN y Árbol de Decisión</a:t>
            </a:r>
            <a:r>
              <a:rPr lang="es-ES" dirty="0"/>
              <a:t> resultaron ser los más adecuados para el problema analizado. Si bien KNN presenta un mayor accuracy, esta métrica no es determinante debido al </a:t>
            </a:r>
            <a:r>
              <a:rPr lang="es-ES" b="1" dirty="0"/>
              <a:t>desbalance del dataset</a:t>
            </a:r>
            <a:r>
              <a:rPr lang="es-ES" dirty="0"/>
              <a:t>.</a:t>
            </a:r>
          </a:p>
          <a:p>
            <a:r>
              <a:rPr lang="es-ES" dirty="0"/>
              <a:t>El </a:t>
            </a:r>
            <a:r>
              <a:rPr lang="es-ES" b="1" dirty="0"/>
              <a:t>Árbol de Decisión</a:t>
            </a:r>
            <a:r>
              <a:rPr lang="es-ES" dirty="0"/>
              <a:t> logra un </a:t>
            </a:r>
            <a:r>
              <a:rPr lang="es-ES" b="1" dirty="0"/>
              <a:t>mayor recall</a:t>
            </a:r>
            <a:r>
              <a:rPr lang="es-ES" dirty="0"/>
              <a:t>, permitiendo identificar una mayor proporción de clientes con riesgo de incumplimiento y reduciendo el impacto negativo para el negocio. Por este motivo, se selecciona el </a:t>
            </a:r>
            <a:r>
              <a:rPr lang="es-ES" b="1" dirty="0"/>
              <a:t>Árbol de Decisión como el modelo más conveniente</a:t>
            </a:r>
            <a:r>
              <a:rPr lang="es-ES" dirty="0"/>
              <a:t>, con potencial de mejora mediante ajustes adicionales.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E105861-C344-72C0-54F9-524B5750B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062738"/>
              </p:ext>
            </p:extLst>
          </p:nvPr>
        </p:nvGraphicFramePr>
        <p:xfrm>
          <a:off x="1467404" y="1459282"/>
          <a:ext cx="8947150" cy="13716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762560253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592126719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610459871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2702483688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3672029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592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dirty="0"/>
                        <a:t>KNN (k = 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0.8093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0.6215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0.3527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0.4500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649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dirty="0"/>
                        <a:t>Árbol de Decisión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0.7782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0.4985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0.4974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0.4979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928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760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220</TotalTime>
  <Words>1158</Words>
  <Application>Microsoft Office PowerPoint</Application>
  <PresentationFormat>Panorámica</PresentationFormat>
  <Paragraphs>145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Cambria Math</vt:lpstr>
      <vt:lpstr>Century Gothic</vt:lpstr>
      <vt:lpstr>Courier New</vt:lpstr>
      <vt:lpstr>Wingdings 3</vt:lpstr>
      <vt:lpstr>Ion</vt:lpstr>
      <vt:lpstr>MODELOS DE MACHINE LEARNING APLICADOS AL RIESGO CREDITICIO</vt:lpstr>
      <vt:lpstr>ANÁLISIS DEL PROBLEMA</vt:lpstr>
      <vt:lpstr>METODOLOGÍA DE TRABAJO</vt:lpstr>
      <vt:lpstr>ANÁLISIS DE DATOS </vt:lpstr>
      <vt:lpstr>ANÁLISIS DE DATOS </vt:lpstr>
      <vt:lpstr>ANÁLISIS DE DATOS </vt:lpstr>
      <vt:lpstr>ANÁLISIS DE DATOS </vt:lpstr>
      <vt:lpstr>ANÁLISIS DE DATOS </vt:lpstr>
      <vt:lpstr>ANÁLISIS DE DATOS </vt:lpstr>
      <vt:lpstr>IMPLEMENTACIÓN DE MÉTODOS DE APRENDIZAJE</vt:lpstr>
      <vt:lpstr>IMPLEMENTACIÓN DE MÉTODOS DE APRENDIZAJE</vt:lpstr>
      <vt:lpstr>REGRESION PCR – LASSO – RIDGE</vt:lpstr>
      <vt:lpstr>REGRESION PCR – LASSO – RIDGE</vt:lpstr>
      <vt:lpstr>REGRESION PCR – LASSO – RIDGE</vt:lpstr>
      <vt:lpstr>REGRESION PCR – LASSO – RIDGE</vt:lpstr>
      <vt:lpstr>REGRESION PCR – LASSO – RIDGE </vt:lpstr>
      <vt:lpstr>K-MEANS</vt:lpstr>
      <vt:lpstr>K-MEANS CONLCUSIONES</vt:lpstr>
      <vt:lpstr>K-NEAREST NEIGHBORS (KNN)</vt:lpstr>
      <vt:lpstr>K-NEAREST NEIGHBORS (KNN)</vt:lpstr>
      <vt:lpstr>K-NEAREST NEIGHBORS (KNN)</vt:lpstr>
      <vt:lpstr>KNN - CONLCUSIONES</vt:lpstr>
      <vt:lpstr>ARBOL DE DESICIÓN</vt:lpstr>
      <vt:lpstr>ARBOL DE DESICIÓN</vt:lpstr>
      <vt:lpstr>ARBOL DE DESICIÓN - CONCLUSIONES</vt:lpstr>
      <vt:lpstr>CONCLUSIÓN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Miguel Blanco</dc:creator>
  <cp:lastModifiedBy>Juan Miguel Blanco</cp:lastModifiedBy>
  <cp:revision>30</cp:revision>
  <dcterms:created xsi:type="dcterms:W3CDTF">2026-02-08T22:37:23Z</dcterms:created>
  <dcterms:modified xsi:type="dcterms:W3CDTF">2026-02-09T02:17:43Z</dcterms:modified>
</cp:coreProperties>
</file>